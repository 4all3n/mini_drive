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A00B81-944C-4915-A05C-FE2B73E29E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9F5F36-6AC0-4BE0-BD12-C3B310F040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1728DD-84CE-4460-B0E1-305C2B3D7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439873-ED94-496B-B286-4651323A26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112ACE-0A38-4148-AD12-E9B33414CE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B1544C-5618-4DF3-A261-FD1D0CD8D7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19972D-DAF5-4BE6-AB31-ACF0091EAB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522258-FA19-42A6-BBEF-476FBB22A8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6D6116-2FC9-4940-B5D2-2F971AAD9E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E86089-9C73-43B1-B5D9-43A352B033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F3FBAF-E65C-48D2-98D3-8F5E795A1C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0"/>
            <a:ext cx="18285480" cy="296928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INTELLIGENT CLOUD DRIVE: AI-POWERED FILE MANAGEMENT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lang="en-IN" sz="42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WITH SECURE DISTRIBUTED ARCHITECTURE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4572000" y="3657600"/>
            <a:ext cx="9141480" cy="5199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lang="en-IN" sz="28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Final Project Work Presentation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Presented by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599"/>
              </a:spcAft>
            </a:pPr>
            <a:r>
              <a:rPr lang="en-IN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Harsh Pratap Singh [25MCA1027]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Under the Guidance of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800" b="1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Dr. Saranya G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599"/>
              </a:spcAft>
            </a:pPr>
            <a:r>
              <a:rPr lang="en-IN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Associate Professor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School of Computer Science and Engineering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400" b="0" u="none" strike="noStrike">
                <a:solidFill>
                  <a:srgbClr val="1A237E"/>
                </a:solidFill>
                <a:effectLst/>
                <a:uFillTx/>
                <a:latin typeface="Times New Roman"/>
                <a:ea typeface="Arial"/>
              </a:rPr>
              <a:t>Vellore Institute of Technology, Chennai.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PROBLEM STATEMENT &amp; MOTIVATION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4"/>
          <p:cNvSpPr/>
          <p:nvPr/>
        </p:nvSpPr>
        <p:spPr>
          <a:xfrm>
            <a:off x="540000" y="2161800"/>
            <a:ext cx="16913880" cy="7198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Problem: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Data Explosion: Global data creation exceeds 181 Zettabytes. Knowledge workers accumulate hundreds of downloads, code files, and documents daily, creating severe manual filing fatigue.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Privacy Invasions in Cloud Storage: Commercial smart drives (Google Drive, Dropbox) scan user content on remote servers for suggestions, violating enterprise data privacy and confidentiality.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Security Gaps in Academic Prototypes: Existing open-source storage systems use plaintext passwords or weak MD5/SHA-1, lack token authorization, and remain vulnerable to IDOR and directory traversal.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199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The NLP Short-Text Classification Deficit: Filenames consist of ultra-short text (5–30 characters) where standard bag-of-words tokenizers fail. Specialized sub-word character n-gram modeling is critically required.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LITERATURE REVIEW SUMMARY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Table 4"/>
          <p:cNvGraphicFramePr/>
          <p:nvPr/>
        </p:nvGraphicFramePr>
        <p:xfrm>
          <a:off x="0" y="1691640"/>
          <a:ext cx="18287640" cy="853416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S. No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Paper Title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Authors &amp; Year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Objectives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Algorithms Used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Features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Merits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Limitations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Text Categorization with Support Vector Machines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Joachims, T. (1998)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Compare SVM against NB, KNN, Decision Trees for text categorization.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Empirical evaluation on Reuters-21578 and Ohsumed benchmarks.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SVM, Naive Bayes, KNN, Decision Trees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High-dimensional sparse text vectors, precision/recall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SVMs consistently outperform NB in high-dimensional text.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Focused on long documents; does not evaluate short-text (filename) classification.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Fileprints: Identifying File Types by N-Gram Analysis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Li, W. J. et al. (2005)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Classify file types using byte-level n-gram frequency distributions.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Statistical centroid models; classification via Mahalanobis distance.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Centroid-based classifier, Statistical distance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Byte-level n-grams, file fingerprints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High accuracy without headers or extensions.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Operates at byte level, not filename text; computationally expensive.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Text Classification Algorithms: A Survey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Kowsari, K. et al. (2019)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Comprehensive survey of text classification pipeline.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Structured survey of BoW, TF-IDF, Word2Vec, GloVe, BERT.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NB, SVM, RF, CNN, RNN, BERT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TF-IDF, word embeddings, deep learning features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Covers entire pipeline; open-access and highly cited.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Survey paper — no novel algorithm; no filename-specific evaluation.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TF-IDF Feature Weighting Comparative Study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Das, M. et al. (2023)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Compare TF-IDF vs N-Gram across multiple ML classifiers.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Empirical analysis on unstructured text datasets.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SVM, Random Forest, Logistic Regression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TF-IDF weighting, N-gram features, accuracy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Validates TF-IDF effectiveness across classifiers.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Limited to English; no character-level n-gram evaluation.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22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The Google File System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Ghemawat, S. et al. (2003)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Design a scalable distributed file system for data-intensive apps.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System design: decoupled control/data planes.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N/A (System Architecture)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Metadata separation, fault tolerance, append writes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Foundational paradigm for cloud storage.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Designed for Google-scale; not for single-node desktop.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LITERATURE REVIEW SUMMARY (CONTINUED)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Table 4"/>
          <p:cNvGraphicFramePr/>
          <p:nvPr/>
        </p:nvGraphicFramePr>
        <p:xfrm>
          <a:off x="0" y="1691640"/>
          <a:ext cx="18287640" cy="8411040"/>
        </p:xfrm>
        <a:graphic>
          <a:graphicData uri="http://schemas.openxmlformats.org/drawingml/2006/table">
            <a:tbl>
              <a:tblPr/>
              <a:tblGrid>
                <a:gridCol w="461520"/>
                <a:gridCol w="2585880"/>
                <a:gridCol w="1662480"/>
                <a:gridCol w="2309040"/>
                <a:gridCol w="1847160"/>
                <a:gridCol w="1662480"/>
                <a:gridCol w="2031840"/>
                <a:gridCol w="2770560"/>
                <a:gridCol w="2957040"/>
              </a:tblGrid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S. No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Paper Title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Authors &amp; Year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Objectives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Algorithms Used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Features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Merits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Limitations</a:t>
                      </a:r>
                      <a:endParaRPr lang="en-IN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Challenges of Microservice Architectures: A SLR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Söylemez, M. et al. (2022)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Synthesize benefits and challenges of microservices from 85 studies.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Systematic Literature Review (SLR).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N/A (Architectural patterns)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Scalability, fault isolation, technology diversity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Comprehensive SLR; identifies design patterns.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Enterprise-scale focus; no small-scale evaluation.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Performance Analysis of Spring Boot Microservices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Kusiak, T. &amp; Powroźnik, P. (2021)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Benchmark Spring Boot vs .NET under concurrent loads.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Apache JMeter stress testing on Azure.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N/A (Performance benchmarking)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HTTP throughput, latency, memory, CPU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Validates Spring Boot for concurrent REST APIs.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Cloud-hosted only; no local deployment evaluation.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8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JWT and HMAC SHA-256 for Web Application Security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Prasad, S. &amp; Sharma, V. (2023)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Analyze JWT security vulnerabilities and best practices.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Security analysis of JWT vulnerability vectors.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HMAC SHA-256, RSA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Token replay, algorithm confusion, brute-force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Comprehensive security analysis with defenses.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Web APIs only; no desktop-to-server auth evaluation.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Argon2: Memory-Hard Password Hashing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Biryukov, A. et al. (2016)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Introduce Argon2 and compare against BCrypt, PBKDF2, scrypt.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Cryptographic analysis of memory-hardness.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Argon2, BCrypt, PBKDF2, scrypt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Time-cost, memory-cost, parallelism parameters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PHC winner; proves BCrypt GPU vulnerability.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Argon2 has lower Java/Spring library maturity.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  <a:tr h="1401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Container Orchestration Frameworks Comparison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Strauss, T. et al. (2019)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Compare Docker Swarm, Kubernetes, Apache Mesos.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Quantitative/qualitative benchmarking.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N/A (Infrastructure benchmarking)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Service discovery, load balancing, auto-scaling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Validates Docker Compose for small deployments.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Production clusters focus; no academic project eval.</a:t>
                      </a:r>
                      <a:endParaRPr lang="en-IN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MISSING GAPS IDENTIFIED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548640" y="2900160"/>
            <a:ext cx="16913880" cy="7198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Intelligence Gap (No Privacy-Preserving AI in File Management):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Commercial solutions mandate sending telemetry or raw files to cloud servers. Academic prototypes have no AI.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Identified Gap: No lightweight, locally-hosted AI microservice that autonomously categorizes files offline without privacy leaks.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Representation Gap (Ultra-Short Text Classification):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NLP studies focus on multi-paragraph documents; word embeddings collapse on short filenames without sentence structure.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Identified Gap: Lack of empirical validation for sub-word character n-grams (n=2..5) on filename short text.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Security Gap (Production-Grade Storage Defense):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Academic systems routinely store plaintext credentials and fail to address IDOR tenant isolation and path normalization.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Identified Gap: Need for unified BCrypt adaptive hashing + stateless JWT + tenant directory jail reference architecture.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The UX Gap (Desktop Virtual File System Hierarchy):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Identified Gap: Lack of native desktop file explorer integrating dual 2x2 Grid/List views, visual file-type vector badges, in-app themed file pickers, and automated duplicate resolution.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RESEARCH OBJECTIVES IDENTIFIED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548640" y="2900160"/>
            <a:ext cx="16913880" cy="7198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Objective 1: Multi-Tier Distributed Storage Architecture: </a:t>
            </a:r>
            <a:r>
              <a:rPr lang="en-IN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 design, implement, and deploy an end-to-end distributed file system comprising a JavaFX desktop client, Spring Boot REST server, FastAPI AI microservice, and MariaDB relational store.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Objective 2: Sub-Word NLP Classification Pipeline: </a:t>
            </a:r>
            <a:r>
              <a:rPr lang="en-IN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 formulate an offline machine learning pipeline leveraging character n-gram extraction (n = 2 to 5) and sublinear TF-IDF weighting to categorize filenames into 6 functional classes without reading file payloads.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Objective 3: Empirical Comparative Study (Linear SVM vs Naive Bayes): </a:t>
            </a:r>
            <a:r>
              <a:rPr lang="en-IN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 conduct a rigorous benchmark comparing Multinomial Naive Bayes against Linear Support Vector Machines across Accuracy, Precision, Recall, Macro F1, and 5-Fold Stratified Cross-Validation.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Objective 4: Production-Grade Multi-Tenant Security Framework: </a:t>
            </a:r>
            <a:r>
              <a:rPr lang="en-IN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 implement and verify enterprise security controls: BCrypt password hashing (cost factor 10), stateless JWT tokens (HMAC-SHA256, 24-hr expiry), IDOR tenant isolation, and canonical path traversal defenses.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Objective 5: Virtual Hierarchical File System (VFS) &amp; Modern Client UX: </a:t>
            </a:r>
            <a:r>
              <a:rPr lang="en-IN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 engineer a virtual folder hierarchy using database adjacency lists, subfolder search with debouncing, dual responsive 2x2 Grid / List views with dedicated file-type icons, in-app file picker, and duplicate file collision resolution.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PROPOSED SOLUTION TO THE PROBLEM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548640" y="2900160"/>
            <a:ext cx="16913880" cy="7198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 1: Edge-Deployable AI Categorization Microservice (FastAPI + Python)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Deploys a calibrated Linear SVM model with sub-word character n-grams running locally. Infers file category in &lt;15ms with 96.49% accuracy and zero external data transmission, ensuring total privacy.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 2: Secure Central Enterprise Gateway (Spring Boot 4 + Spring Security)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Orchestrates authentication, metadata indexing, and file streaming. Enforces BCrypt password hashing, stateless JWT authorization, IDOR ownership validation, and path traversal sanitization.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 3: Virtual File System (VFS) with Adjacency List Hierarchy (MariaDB)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Stores user files on disk with UUID-backed storage keys while maintaining an intuitive virtual tree structure in MariaDB, supporting nested subfolders, rename, move, copy, and recursive search.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Component 4: Modern Desktop Application Client (JavaFX 13)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601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Native cross-platform GUI styled in Everforest dark theme. Features split-pane folder tree sidebar, breadcrumbs, dual 2x2 Grid / List view, 10 dedicated file-type vector badges, in-app file picker, and collision dialog.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0" y="0"/>
            <a:ext cx="18285480" cy="1620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SYSTEM ARCHITECTURE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4" descr="proper_system_architecture.png"/>
          <p:cNvPicPr/>
          <p:nvPr/>
        </p:nvPicPr>
        <p:blipFill>
          <a:blip r:embed="rId1"/>
          <a:stretch/>
        </p:blipFill>
        <p:spPr>
          <a:xfrm>
            <a:off x="0" y="1620000"/>
            <a:ext cx="18288000" cy="866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DATASET DESCRIPTION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Table 4"/>
          <p:cNvGraphicFramePr/>
          <p:nvPr/>
        </p:nvGraphicFramePr>
        <p:xfrm>
          <a:off x="457200" y="2800080"/>
          <a:ext cx="8499600" cy="6499800"/>
        </p:xfrm>
        <a:graphic>
          <a:graphicData uri="http://schemas.openxmlformats.org/drawingml/2006/table">
            <a:tbl>
              <a:tblPr/>
              <a:tblGrid>
                <a:gridCol w="2833200"/>
                <a:gridCol w="2833200"/>
                <a:gridCol w="2833200"/>
              </a:tblGrid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Category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Sample Extensions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Count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Archives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.zip, .tar, .gz, .7z, .rar, .bz2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Code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.java, .py, .c, .cpp, .html, .js, .sql, .sh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Documents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.pdf, .docx, .xlsx, .pptx, .txt, .odt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Executables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.exe, .bin, .sh, .app, .deb, .rpm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Media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.png, .jpg, .mp4, .mp3, .wav, .mkv, .gif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System &amp; Logs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.log, .sys, .ini, .conf, .dll, .env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95 (16.7%)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Total Authentic Samples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Balanced across 6 functional classes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570 Files (100%)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Feature Extractor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Character N-Grams (range: 2 to 5)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4,732 Dimensions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5" name="Picture 5" descr="dataset_distribution.png"/>
          <p:cNvPicPr/>
          <p:nvPr/>
        </p:nvPicPr>
        <p:blipFill>
          <a:blip r:embed="rId1"/>
          <a:stretch/>
        </p:blipFill>
        <p:spPr>
          <a:xfrm>
            <a:off x="9399960" y="2800080"/>
            <a:ext cx="8399520" cy="64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MODULE DESCRIPTIONS &amp; ALGORITHMS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548640" y="2800080"/>
            <a:ext cx="16913880" cy="7199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1: User Authentication &amp; Access Control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 &amp; Flow: BCrypt (Blowfish, cost factor 10) + JWT (HMAC-SHA256, 24-hr expiry). Flow: Register → BCrypt hash → MariaDB | Login → BCrypt verify → Signed JWT Bearer token generation.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2: File Management &amp; Virtual File System (VFS)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 &amp; Flow: Adjacency List in MariaDB with parent_folder_id foreign key recursion. Stores UUID files in user directory jails, supporting breadcrumbs, nested move, copy, and recursive search.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3: Secure Storage &amp; Path Sanitization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 &amp; Flow: Defensive Canonicalization: StringUtils.cleanPath() → Paths.get().normalize() → Path.startsWith() prefix check. Prevents directory traversal (../../) and validates IDOR tenant ownership.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4: Machine Learning Inference Microservice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 &amp; Flow: Sub-Word Character N-Grams (n=2..5) + TF-IDF Vectorization + Calibrated Linear Support Vector Classifier (LinearSVC). Produces calibrated probability vectors in &lt;15ms with zero cloud telemetry.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Module 5: JavaFX Desktop Client &amp; Presentation Layer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Algorithm &amp; Flow: Observer Pattern, FilteredList/SortedList reactive bindings, 250ms debounced search, responsive 2x2 Grid / List views, 10 dedicated file-type badges, and duplicate collision dialog.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IMPLEMENTATION PROGRESS (100% COMPLETED)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Table 4"/>
          <p:cNvGraphicFramePr/>
          <p:nvPr/>
        </p:nvGraphicFramePr>
        <p:xfrm>
          <a:off x="457200" y="2700000"/>
          <a:ext cx="17372160" cy="6799680"/>
        </p:xfrm>
        <a:graphic>
          <a:graphicData uri="http://schemas.openxmlformats.org/drawingml/2006/table">
            <a:tbl>
              <a:tblPr/>
              <a:tblGrid>
                <a:gridCol w="5790600"/>
                <a:gridCol w="5790600"/>
                <a:gridCol w="5790600"/>
              </a:tblGrid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Module / Tier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Status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Key Deliverables &amp; Technology Stack</a:t>
                      </a:r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AI Microservice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FastAPI + Scikit-Learn: /predict, /health, /evaluate, sub-word n-gram pipeline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Backend REST API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Spring Boot 4: Auth, upload, download, move, copy, rename, delete, statistics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Security Layer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Spring Security: BCrypt hashing (cost 10), stateless JWT filters, IDOR protection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Virtual File System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MariaDB 10.6+: Adjacency list folder hierarchy, UUID-backed physical storage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Desktop Client GUI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JavaFX 13: Login, Dashboard, FolderTreePane, BreadcrumbBar, DriveGridView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UI/UX Styling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Everforest Dark Theme: 52px card grid, 10 distinct vector file-type icons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In-App File Chooser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Themed FilePickerDialog with quick places (Home, Desktop, Downloads)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Conflict Engine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DuplicateFileDialog with Overwrite, Rename (with auto-suggest), or Cancel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Packaging &amp; Scripts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100%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Maven Wrapper, Fish, Bash, Windows .bat launchers, fully containerizable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AI MODEL — EMPIRICAL EVALUATION RESULTS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Table 4"/>
          <p:cNvGraphicFramePr/>
          <p:nvPr/>
        </p:nvGraphicFramePr>
        <p:xfrm>
          <a:off x="457200" y="2800080"/>
          <a:ext cx="17371440" cy="4198680"/>
        </p:xfrm>
        <a:graphic>
          <a:graphicData uri="http://schemas.openxmlformats.org/drawingml/2006/table">
            <a:tbl>
              <a:tblPr/>
              <a:tblGrid>
                <a:gridCol w="4342680"/>
                <a:gridCol w="4342680"/>
                <a:gridCol w="4342680"/>
                <a:gridCol w="4342680"/>
              </a:tblGrid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Metric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Multinomial Naive Bayes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Linear SVM (LinearSVC)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Winner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Test Accuracy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94.74%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96.49%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🏆 SVM (+1.75%)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Precision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94.85%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96.75%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🏆 SVM (+1.90%)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Recall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94.74%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96.49%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🏆 SVM (+1.75%)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F1-Score (Macro)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94.71%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96.48%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🏆 SVM (+1.77%)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5-Fold CV F1 (Mean±SD)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92.40% (±0.018)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96.47% (±0.011)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🏆 SVM (+4.07%)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Inference Latency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&lt; 8 ms per request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&lt; 12 ms per request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Both Real-Time Edge Ready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8" name="Picture 5" descr="metrics_summary.png"/>
          <p:cNvPicPr/>
          <p:nvPr/>
        </p:nvPicPr>
        <p:blipFill>
          <a:blip r:embed="rId1"/>
          <a:stretch/>
        </p:blipFill>
        <p:spPr>
          <a:xfrm>
            <a:off x="457200" y="7149960"/>
            <a:ext cx="10499760" cy="28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6" descr="accuracy_comparison.png"/>
          <p:cNvPicPr/>
          <p:nvPr/>
        </p:nvPicPr>
        <p:blipFill>
          <a:blip r:embed="rId2"/>
          <a:stretch/>
        </p:blipFill>
        <p:spPr>
          <a:xfrm>
            <a:off x="11499840" y="7149960"/>
            <a:ext cx="6299640" cy="28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PER-CATEGORY F1 SCORE ANALYSIS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Table 4"/>
          <p:cNvGraphicFramePr/>
          <p:nvPr/>
        </p:nvGraphicFramePr>
        <p:xfrm>
          <a:off x="457200" y="2836080"/>
          <a:ext cx="7998480" cy="4643640"/>
        </p:xfrm>
        <a:graphic>
          <a:graphicData uri="http://schemas.openxmlformats.org/drawingml/2006/table">
            <a:tbl>
              <a:tblPr/>
              <a:tblGrid>
                <a:gridCol w="1599480"/>
                <a:gridCol w="1599480"/>
                <a:gridCol w="1599480"/>
                <a:gridCol w="1599480"/>
                <a:gridCol w="1599480"/>
              </a:tblGrid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Category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Support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NB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SVM F1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Δ</a:t>
                      </a:r>
                      <a:endParaRPr lang="en-IN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558ED5"/>
                    </a:solidFill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Archives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Code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0.93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+6%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Documents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+3%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Executables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Media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0.97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+3%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7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System &amp; Logs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19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1.00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—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4" name="Rectangle 5"/>
          <p:cNvSpPr/>
          <p:nvPr/>
        </p:nvSpPr>
        <p:spPr>
          <a:xfrm>
            <a:off x="457200" y="7599960"/>
            <a:ext cx="7998480" cy="2199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Key Finding &amp; Discussion: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Linear SVM achieves perfect 1.00 F1 scores across Documents, Media, and System files. Character n-grams effectively capture sub-word syntactic patterns even in multi-dot filenames.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6" descr="confusion_matrix_svm.png"/>
          <p:cNvPicPr/>
          <p:nvPr/>
        </p:nvPicPr>
        <p:blipFill>
          <a:blip r:embed="rId1"/>
          <a:stretch/>
        </p:blipFill>
        <p:spPr>
          <a:xfrm>
            <a:off x="9000000" y="2800080"/>
            <a:ext cx="8498160" cy="679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2520" y="-5616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DEMO OF THE PROJECT WORK (FULL-STACK WALKTHROUGH)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546120" y="2700000"/>
            <a:ext cx="16913880" cy="7199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1: Secure Authentication Flow: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User authenticates through Everforest login GUI. Spring Security validates credentials via BCrypt and issues a signed stateless JWT bearer token stored in client session.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2: Intelligent Drive Explorer &amp; Folder Tree Navigation: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Dashboard launches with a split-pane layout: on the left, FolderTreePane enables instant directory expansion; interactive breadcrumbs track the nested location.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3: Responsive Dual-View Presentation (2x2 Grid &amp; Compact List View):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Users switch between a modern 2x2 Grid View (52px Everforest cards) and a 3-bar detailed List View with single-click selection and double-click folder entry.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4: Dedicated Visual File-Type Badges: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Files are rendered with custom vector iconography: Images (Mountain frame), Videos (Play circle), PDFs (Adobe Ribbon), Word (Blue doc), Excel (Green grid), PPT (Orange chart), MP3 (Yellow note), and ZIP (Purple zipper).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5: Automated AI Categorization &amp; In-App Everforest File Chooser: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Clicking 'Upload' opens an integrated Everforest dark-themed file chooser with quick Places. Uploaded files are categorized in real time by the local FastAPI AI service in &lt;15ms.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201"/>
              </a:spcAft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• Step 6: Conflict Resolution Engine &amp; Advanced File Operations: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001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Duplicate uploads trigger DuplicateFileDialog offering Overwrite, Rename (with auto-suggested suffix), or Cancel. Full support for nested Move, Copy, Delete, and debounced Search.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0" y="0"/>
            <a:ext cx="18285480" cy="257616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2801"/>
              </a:spcBef>
            </a:pPr>
            <a:r>
              <a:rPr lang="en-IN" sz="4800" b="1" u="none" strike="noStrike">
                <a:solidFill>
                  <a:srgbClr val="F0F0F0"/>
                </a:solidFill>
                <a:effectLst/>
                <a:uFillTx/>
                <a:latin typeface="Times New Roman"/>
                <a:ea typeface="Arial"/>
              </a:rPr>
              <a:t>REFERENCES</a:t>
            </a:r>
            <a:endParaRPr lang="en-IN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548640" y="2900160"/>
            <a:ext cx="16913880" cy="6999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1. Joachims, T. (1998). "Text categorization with Support Vector Machines: Learning with many relevant features." Proc. ECML '98, pp. 137–142. Springer.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2. Kowsari, K., Meimandi, K. J., Heidarysafa, M. et al. (2019). "Text classification algorithms: A survey." Information (MDPI), 10(4), 150.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3. Jones, M. et al. (2015). "JSON Web Token (JWT)." RFC 7519, Internet Engineering Task Force (IETF).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4. Provos, N. &amp; Mazières, D. (1999). "A Future-Adaptable Password Scheme." Proc. FREENIX Track: 1999 USENIX Annual Technical Conference, pp. 81–91.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5. Pedregosa, F., Varoquaux, G., Gramfort, A. et al. (2011). "Scikit-learn: Machine learning in Python." JMLR, 12, pp. 2825–2830.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6. Das, M., Selvakumar, K., &amp; Alphonse, P. J. A. (2023). "A comparative study on TF-IDF feature weighting method." Int. J. Advanced Research in CS.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7. Prasad, S. R. S. S. S., &amp; Sharma, V. K. (2023). "Enhancing data security: JWT and HMAC SHA-256 for web application security." IJRITCC, 11(9), 993–998.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8. Biryukov, A., Dinu, D., &amp; Khovratovich, D. (2016). "Argon2: New generation of memory-hard functions." IEEE European Symposium on Security and Privacy.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9. Ghemawat, S., Gobioff, H., &amp; Leung, S. T. (2003). "The Google file system." Proc. 19th ACM SOSP, pp. 29–43.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10. FastAPI Documentation. Ramírez, S. (2024). High performance, easy to learn, fast to code, ready for production. https://fastapi.tiangolo.com.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0" y="0"/>
            <a:ext cx="18286200" cy="102852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3000"/>
              </a:spcBef>
            </a:pPr>
            <a:r>
              <a:rPr lang="en-IN" sz="6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THANK YOU</a:t>
            </a:r>
            <a:endParaRPr lang="en-IN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0"/>
              </a:spcBef>
            </a:pPr>
            <a:r>
              <a:rPr lang="en-IN" sz="32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Questions &amp; Answers</a:t>
            </a:r>
            <a:endParaRPr lang="en-IN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0"/>
              </a:spcBef>
            </a:pPr>
            <a:r>
              <a:rPr lang="en-IN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Harsh Pratap Singh [25MCA1027]  |  Dr. Saranya G.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IN" sz="22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School of Computer Science and Engineering, Vellore Institute of Technology, Chennai.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LibreOffice/26.8.1.1$Linux_X86_64 LibreOffice_project/bf8adb135da2784a1be3ca33001278b7a20af5c1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DAG3DDa4I9A</dc:identifier>
  <dc:language>en-IN</dc:language>
  <cp:lastModifiedBy/>
  <dcterms:modified xsi:type="dcterms:W3CDTF">2026-10-27T21:17:34Z</dcterms:modified>
  <cp:revision>18</cp:revision>
  <dc:subject/>
  <dc:title>An AI-Powered System for Correlating Physical Activity and Subjective Mental Well-being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18</vt:i4>
  </property>
  <property fmtid="{D5CDD505-2E9C-101B-9397-08002B2CF9AE}" pid="4" name="PresentationFormat">
    <vt:lpwstr>On-screen Show (4:3)</vt:lpwstr>
  </property>
  <property fmtid="{D5CDD505-2E9C-101B-9397-08002B2CF9AE}" pid="5" name="Slides">
    <vt:i4>18</vt:i4>
  </property>
</Properties>
</file>