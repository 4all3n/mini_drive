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C81F26-E66D-4CF1-846B-DBA83AFE33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419656-8E2F-42F0-BE66-9773638224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000" cy="115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48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000" cy="468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68874A-3CC5-4CBE-89A5-A42A28288E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240" cy="56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240" cy="80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3AAD9A-B961-4D7E-88C0-309E2F2C46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240" cy="146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FB41B15-F11F-4169-81F0-E9CABD8AAD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F517CD-E730-433E-B430-22180DBC14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240" cy="584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7760" cy="584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BF4F3F-2BF6-4718-A9F8-45841F77C8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EF9CF5-6C3C-48F9-9481-682BDE3C5A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240" cy="136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240" cy="149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105AE5-406F-4283-BE7F-D5F8F9867A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320" cy="452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320" cy="452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4C52B3-33EA-40DA-B329-BD2ABDF8E2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120" cy="63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120" cy="394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560" cy="63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560" cy="394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03571C-2545-441C-9CF6-82A595D4F2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8285840" cy="2969640"/>
          </a:xfrm>
          <a:prstGeom prst="rect">
            <a:avLst/>
          </a:prstGeom>
          <a:solidFill>
            <a:srgbClr val="558ED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INTELLIGENT CLOUD DRIVE: AI-POWERED FILE MANAGEMENT</a:t>
            </a:r>
            <a:endParaRPr lang="en-IN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0"/>
              </a:spcBef>
            </a:pPr>
            <a:r>
              <a:rPr lang="en-US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SYSTEM WITH SECURE DISTRIBUTED ARCHITECTURE</a:t>
            </a:r>
            <a:endParaRPr lang="en-IN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0" y="3657600"/>
            <a:ext cx="9141840" cy="49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1599"/>
              </a:spcAft>
            </a:pPr>
            <a:r>
              <a:rPr lang="en-US" sz="28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Project Work Review-3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799"/>
              </a:spcAft>
            </a:pPr>
            <a:r>
              <a:rPr lang="en-US" sz="24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Presented by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1599"/>
              </a:spcAf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Harsh Pratap Singh [25MCA1027]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799"/>
              </a:spcAft>
            </a:pP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799"/>
              </a:spcAft>
            </a:pPr>
            <a:r>
              <a:rPr lang="en-US" sz="24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Under the Guidance of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r>
              <a:rPr lang="en-US" sz="2400" b="1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/>
                <a:ea typeface="Times New Roman"/>
              </a:rPr>
              <a:t>Dr. Saranya G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r>
              <a:rPr lang="en-US" sz="2400" b="0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/>
                <a:ea typeface="Times New Roman"/>
              </a:rPr>
              <a:t>Assistant professor-Senior Grade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799"/>
              </a:spcAft>
            </a:pPr>
            <a:r>
              <a:rPr lang="en-US" sz="24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School of Computer Science and Engineering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799"/>
              </a:spcAft>
            </a:pPr>
            <a:r>
              <a:rPr lang="en-US" sz="24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Vellore Institute of Technology, Chennai.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 Table of Contents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4"/>
          <p:cNvSpPr/>
          <p:nvPr/>
        </p:nvSpPr>
        <p:spPr>
          <a:xfrm>
            <a:off x="548640" y="3200400"/>
            <a:ext cx="16914240" cy="639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1. Literature Review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2.Problem Statement &amp; Objectives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3. System Architecture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4. Technology Stack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5. Module Descriptions with Algorithms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6. Dataset Description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7. AI Model — Empirical Evaluation Results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8. Per-Category Performance Analysis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9. Cross-Validation Stability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10. Security Implementation (JWT + BCrypt)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11. Key Code Highlights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12. Challenges &amp; Solutions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13. Work Remaining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14. References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2"/>
          <p:cNvSpPr/>
          <p:nvPr/>
        </p:nvSpPr>
        <p:spPr>
          <a:xfrm>
            <a:off x="0" y="0"/>
            <a:ext cx="18286200" cy="2576880"/>
          </a:xfrm>
          <a:prstGeom prst="rect">
            <a:avLst/>
          </a:prstGeom>
          <a:solidFill>
            <a:srgbClr val="558ED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2999"/>
              </a:spcBef>
            </a:pP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LITERATURE REVIEW SUMMARY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7" name="Table 2"/>
          <p:cNvGraphicFramePr/>
          <p:nvPr/>
        </p:nvGraphicFramePr>
        <p:xfrm>
          <a:off x="0" y="1691640"/>
          <a:ext cx="18287640" cy="8534160"/>
        </p:xfrm>
        <a:graphic>
          <a:graphicData uri="http://schemas.openxmlformats.org/drawingml/2006/table">
            <a:tbl>
              <a:tblPr/>
              <a:tblGrid>
                <a:gridCol w="461520"/>
                <a:gridCol w="2585880"/>
                <a:gridCol w="1662480"/>
                <a:gridCol w="2309040"/>
                <a:gridCol w="1847160"/>
                <a:gridCol w="1662480"/>
                <a:gridCol w="2031840"/>
                <a:gridCol w="2770560"/>
                <a:gridCol w="2957040"/>
              </a:tblGrid>
              <a:tr h="1401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S. No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Paper Title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Authors &amp; Year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Objectives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Methodology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Algorithms Used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Features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Merits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Limitations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1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Text Categorization with Support Vector Machines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Joachims, T. (1998)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Compare SVM against NB, KNN, Decision Trees for text categorization.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Empirical evaluation on Reuters-21578 and Ohsumed benchmarks.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SVM, Naive Bayes, KNN, Decision Trees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High-dimensional sparse text vectors, precision/recall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SVMs consistently outperform NB in high-dimensional text.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Focused on long documents; does not evaluate short-text (filename) classification.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2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Fileprints: Identifying File Types by N-Gram Analysis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Li, W. J. et al. (2005)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Classify file types using byte-level n-gram frequency distributions.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Statistical centroid models; classification via Mahalanobis distance.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Centroid-based classifier, Statistical distance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Byte-level n-grams, file fingerprints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High accuracy without headers or extensions.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Operates at byte level, not filename text; computationally expensive.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3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Text Classification Algorithms: A Survey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Kowsari, K. et al. (2019)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Comprehensive survey of text classification pipeline.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Structured survey of BoW, TF-IDF, Word2Vec, GloVe, BERT.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NB, SVM, RF, CNN, RNN, BERT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TF-IDF, word embeddings, deep learning features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Covers entire pipeline; open-access and highly cited.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Survey paper — no novel algorithm; no filename-specific evaluation.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4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TF-IDF Feature Weighting Comparative Study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Das, M. et al. (2023)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Compare TF-IDF vs N-Gram across multiple ML classifiers.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Empirical analysis on unstructured text datasets.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SVM, Random Forest, Logistic Regression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TF-IDF weighting, N-gram features, accuracy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Validates TF-IDF effectiveness across classifiers.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Limited to English; no character-level n-gram evaluation.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5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The Google File System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Ghemawat, S. et al. (2003)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Design a scalable distributed file system for data-intensive apps.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System design: decoupled control/data planes.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N/A (System Architecture)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Metadata separation, fault tolerance, append writes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Foundational paradigm for cloud storage.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Designed for Google-scale; not for single-node desktop.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"/>
          <p:cNvSpPr/>
          <p:nvPr/>
        </p:nvSpPr>
        <p:spPr>
          <a:xfrm>
            <a:off x="0" y="0"/>
            <a:ext cx="18286200" cy="2576880"/>
          </a:xfrm>
          <a:prstGeom prst="rect">
            <a:avLst/>
          </a:prstGeom>
          <a:solidFill>
            <a:srgbClr val="558ED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2999"/>
              </a:spcBef>
            </a:pPr>
            <a:r>
              <a:rPr lang="en-US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LITERATURE REVIEW SUMMARY (CONTINUED)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9" name="Table 2"/>
          <p:cNvGraphicFramePr/>
          <p:nvPr/>
        </p:nvGraphicFramePr>
        <p:xfrm>
          <a:off x="0" y="1691640"/>
          <a:ext cx="18287640" cy="8411040"/>
        </p:xfrm>
        <a:graphic>
          <a:graphicData uri="http://schemas.openxmlformats.org/drawingml/2006/table">
            <a:tbl>
              <a:tblPr/>
              <a:tblGrid>
                <a:gridCol w="461520"/>
                <a:gridCol w="2585880"/>
                <a:gridCol w="1662480"/>
                <a:gridCol w="2309040"/>
                <a:gridCol w="1847160"/>
                <a:gridCol w="1662480"/>
                <a:gridCol w="2031840"/>
                <a:gridCol w="2770560"/>
                <a:gridCol w="2957040"/>
              </a:tblGrid>
              <a:tr h="1401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S. No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Paper Title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Authors &amp; Year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Objectives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Methodology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Algorithms Used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Features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Merits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Limitations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6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Challenges of Microservice Architectures: A SLR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Söylemez, M. et al. (2022)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Synthesize benefits and challenges of microservices from 85 studies.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Systematic Literature Review (SLR).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N/A (Architectural patterns)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Scalability, fault isolation, technology diversity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Comprehensive SLR; identifies design patterns.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Enterprise-scale focus; no small-scale evaluation.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7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Performance Analysis of Spring Boot Microservices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Kusiak, T. &amp; Powroźnik, P. (2021)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Benchmark Spring Boot vs .NET under concurrent loads.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Apache JMeter stress testing on Azure.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N/A (Performance benchmarking)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HTTP throughput, latency, memory, CPU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Validates Spring Boot for concurrent REST APIs.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Cloud-hosted only; no local deployment evaluation.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8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JWT and HMAC SHA-256 for Web Application Security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Prasad, S. &amp; Sharma, V. (2023)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Analyze JWT security vulnerabilities and best practices.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Security analysis of JWT vulnerability vectors.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HMAC SHA-256, RSA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Token replay, algorithm confusion, brute-force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Comprehensive security analysis with defenses.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Web APIs only; no desktop-to-server auth evaluation.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9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Argon2: Memory-Hard Password Hashing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Biryukov, A. et al. (2016)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Introduce Argon2 and compare against BCrypt, PBKDF2, scrypt.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Cryptographic analysis of memory-hardness.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Argon2, BCrypt, PBKDF2, scrypt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Time-cost, memory-cost, parallelism parameters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PHC winner; proves BCrypt GPU vulnerability.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Argon2 has lower Java/Spring library maturity.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10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Container Orchestration Frameworks Comparison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Strauss, T. et al. (2019)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Compare Docker Swarm, Kubernetes, Apache Mesos.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Quantitative/qualitative benchmarking.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N/A (Infrastructure benchmarking)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Service discovery, load balancing, auto-scaling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Validates Docker Compose for small deployments.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Production clusters focus; no academic project eval.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999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PROBLEM STATEMENT &amp; OBJECTIVES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4"/>
          <p:cNvSpPr/>
          <p:nvPr/>
        </p:nvSpPr>
        <p:spPr>
          <a:xfrm>
            <a:off x="548640" y="3200400"/>
            <a:ext cx="16914240" cy="639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The Problem: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Data Explosion: Global data creation expected to reach 181 ZB by 2025 (IDC). Manual file organization is unsustainable.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Security Gaps: Traditional cloud systems use plain-text passwords, session cookies, and lack per-user file isolation.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No Intelligence: Existing lightweight cloud drives do not auto-categorize files, forcing users into manual folder creation.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Our Objectives: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1. Design a multi-tier cloud file storage system with a secure REST API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2. Implement JWT-based stateless authentication with BCrypt password hashing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3. Build an AI microservice that classifies files into 6 categories using NLP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4. Empirically compare Multinomial Naive Bayes vs Linear SVM on ultra-short text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5. Develop a JavaFX desktop client with distributed deployment support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999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SYSTEM ARCHITECTURE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"/>
          <p:cNvPicPr/>
          <p:nvPr/>
        </p:nvPicPr>
        <p:blipFill>
          <a:blip r:embed="rId1"/>
          <a:stretch/>
        </p:blipFill>
        <p:spPr>
          <a:xfrm>
            <a:off x="2700000" y="2553480"/>
            <a:ext cx="13500000" cy="773352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999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TECHNOLOGY STACK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Table 4"/>
          <p:cNvGraphicFramePr/>
          <p:nvPr/>
        </p:nvGraphicFramePr>
        <p:xfrm>
          <a:off x="457200" y="2743200"/>
          <a:ext cx="17371800" cy="6146640"/>
        </p:xfrm>
        <a:graphic>
          <a:graphicData uri="http://schemas.openxmlformats.org/drawingml/2006/table">
            <a:tbl>
              <a:tblPr/>
              <a:tblGrid>
                <a:gridCol w="4343040"/>
                <a:gridCol w="4343040"/>
                <a:gridCol w="4343040"/>
                <a:gridCol w="4343040"/>
              </a:tblGrid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Layer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Technology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Version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Purpose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Frontend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JavaFX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13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Desktop GUI — Login, Register, Dashboard screens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Frontend Build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Maven + javafx-maven-plugin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0.0.4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Compile &amp; launch JavaFX modules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Backend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Spring Boot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4.0.3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REST API server, dependency injection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ORM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Hibernate JPA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6.x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Object-Relational Mapping for entities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Database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MariaDB / MySQL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10.6+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User accounts, file metadata storage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Security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Spring Security + JJWT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6.x / 0.12.6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JWT auth, BCrypt password hashing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AI / ML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Scikit-Learn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latest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TF-IDF, Naive Bayes, Linear SVM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AI API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FastAPI + Uvicorn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latest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Python REST API serving ML predictions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Serialization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Joblib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latest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Trained model persistence to disk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Build Tool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Maven Wrapper (mvnw)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3.3.4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Zero-install reproducible builds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999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MODULE DESCRIPTIONS &amp; ALGORITHMS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4"/>
          <p:cNvSpPr/>
          <p:nvPr/>
        </p:nvSpPr>
        <p:spPr>
          <a:xfrm>
            <a:off x="548640" y="2900160"/>
            <a:ext cx="16914240" cy="7198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Module 1: User Authentication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Algorithm: BCrypt (Blowfish, cost factor 10) + JWT (HMAC-SHA256, 24hr expiry)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Flow: Register → BCrypt hash → DB | Login → BCrypt verify → JWT issued → Bearer header on all requests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Module 2: File Management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Upload: Multipart → path traversal sanitization → disk write → DB persist + AI categorization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Download/Delete: IDOR prevention — JWT username vs uploadedBy field ownership check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Module 3: AI File Categorization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Algorithm: TF-IDF Character N-grams (n=2..5) + Linear SVM (CalibratedClassifierCV)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6 Categories: Archives, Code, Documents, Executables, Media, System &amp; Logs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Graceful fallback: if AI offline → file marked 'Uncategorized'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Module 4: JavaFX Desktop Client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SceneManager pattern, dynamic ServerConfig.java for distributed deployment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Screens: LoginScreen, RegisterScreen, DashboardScreen (file grid + AI category)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999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DATASET DESCRIPTION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9" name="Table 4"/>
          <p:cNvGraphicFramePr/>
          <p:nvPr/>
        </p:nvGraphicFramePr>
        <p:xfrm>
          <a:off x="457200" y="2800080"/>
          <a:ext cx="8499240" cy="5799600"/>
        </p:xfrm>
        <a:graphic>
          <a:graphicData uri="http://schemas.openxmlformats.org/drawingml/2006/table">
            <a:tbl>
              <a:tblPr/>
              <a:tblGrid>
                <a:gridCol w="4249800"/>
                <a:gridCol w="4249800"/>
              </a:tblGrid>
              <a:tr h="9666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Property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Value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9666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Total Samples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570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666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Train / Test Split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456 (80%) / 114 (20%)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9666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Categories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6 (balanced — 95 samples each)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666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Feature Type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Filenames (ultra-short text, 5–30 characters)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9666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Feature Extraction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TF-IDF with character n-grams (n = 2 to 5)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0" name="Picture 5" descr="dataset_distribution.png"/>
          <p:cNvPicPr/>
          <p:nvPr/>
        </p:nvPicPr>
        <p:blipFill>
          <a:blip r:embed="rId1"/>
          <a:stretch/>
        </p:blipFill>
        <p:spPr>
          <a:xfrm>
            <a:off x="9500040" y="2800080"/>
            <a:ext cx="7998480" cy="5998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999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AI MODEL — EMPIRICAL EVALUATION RESULTS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Table 4"/>
          <p:cNvGraphicFramePr/>
          <p:nvPr/>
        </p:nvGraphicFramePr>
        <p:xfrm>
          <a:off x="457200" y="2800080"/>
          <a:ext cx="17371800" cy="4199040"/>
        </p:xfrm>
        <a:graphic>
          <a:graphicData uri="http://schemas.openxmlformats.org/drawingml/2006/table">
            <a:tbl>
              <a:tblPr/>
              <a:tblGrid>
                <a:gridCol w="4343040"/>
                <a:gridCol w="4343040"/>
                <a:gridCol w="4343040"/>
                <a:gridCol w="4343040"/>
              </a:tblGrid>
              <a:tr h="6998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Metric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Multinomial Naive Bayes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Linear SVM (LinearSVC)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Winner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6998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Test Accuracy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94.74%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96.49%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 SVM (+1.75%)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998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Precision (Macro)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94.85%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96.75%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SVM (+1.90%)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6998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Recall (Macro)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94.74%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96.49%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SVM (+1.75%)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998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F1-Score (Macro)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94.71%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96.48%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SVM (+1.77%)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6998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5-Fold CV F1 (Mean±SD)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92.40% (±0.018)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96.47% (±0.011)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SVM (+4.07%)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5" name="Rectangle 5"/>
          <p:cNvSpPr/>
          <p:nvPr/>
        </p:nvSpPr>
        <p:spPr>
          <a:xfrm>
            <a:off x="548640" y="7300080"/>
            <a:ext cx="16914240" cy="2198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Key Finding: </a:t>
            </a: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Linear SVM consistently outperforms Naive Bayes across all metrics with lower variance in cross-validation (±0.011 vs ±0.018), indicating superior generalization stability.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999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PER-CATEGORY F1 SCORE ANALYSIS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9" name="Table 4"/>
          <p:cNvGraphicFramePr/>
          <p:nvPr/>
        </p:nvGraphicFramePr>
        <p:xfrm>
          <a:off x="457200" y="2836080"/>
          <a:ext cx="7998840" cy="5798520"/>
        </p:xfrm>
        <a:graphic>
          <a:graphicData uri="http://schemas.openxmlformats.org/drawingml/2006/table">
            <a:tbl>
              <a:tblPr/>
              <a:tblGrid>
                <a:gridCol w="1599840"/>
                <a:gridCol w="1599840"/>
                <a:gridCol w="1599840"/>
                <a:gridCol w="1599840"/>
                <a:gridCol w="1599840"/>
              </a:tblGrid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Category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Support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NB F1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SVM F1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Δ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Archives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19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0.97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0.97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—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Code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19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0.87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0.93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+6%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Documents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19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0.97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1.00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+3%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Executables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19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0.89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0.89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—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Media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19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0.97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1.00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+3%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System &amp; Logs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19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1.00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1.00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—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</a:tbl>
          </a:graphicData>
        </a:graphic>
      </p:graphicFrame>
      <p:pic>
        <p:nvPicPr>
          <p:cNvPr id="100" name="Picture 5" descr="f1_per_class.png"/>
          <p:cNvPicPr/>
          <p:nvPr/>
        </p:nvPicPr>
        <p:blipFill>
          <a:blip r:embed="rId1"/>
          <a:stretch/>
        </p:blipFill>
        <p:spPr>
          <a:xfrm>
            <a:off x="9000000" y="2800080"/>
            <a:ext cx="8498520" cy="6198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999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CONFUSION MATRIX — NAIVE BAYES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4" descr="confusion_matrix_nb.png"/>
          <p:cNvPicPr/>
          <p:nvPr/>
        </p:nvPicPr>
        <p:blipFill>
          <a:blip r:embed="rId1"/>
          <a:stretch/>
        </p:blipFill>
        <p:spPr>
          <a:xfrm>
            <a:off x="4644000" y="2800080"/>
            <a:ext cx="8998560" cy="6998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999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CONFUSION MATRIX — LINEAR SVM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8" name="Picture 4" descr="confusion_matrix_svm.png"/>
          <p:cNvPicPr/>
          <p:nvPr/>
        </p:nvPicPr>
        <p:blipFill>
          <a:blip r:embed="rId1"/>
          <a:stretch/>
        </p:blipFill>
        <p:spPr>
          <a:xfrm>
            <a:off x="4644000" y="2800080"/>
            <a:ext cx="8998560" cy="6998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999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CROSS-VALIDATION STABILITY (5-FOLD)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2" name="Table 4"/>
          <p:cNvGraphicFramePr/>
          <p:nvPr/>
        </p:nvGraphicFramePr>
        <p:xfrm>
          <a:off x="457200" y="2800080"/>
          <a:ext cx="7999200" cy="5798520"/>
        </p:xfrm>
        <a:graphic>
          <a:graphicData uri="http://schemas.openxmlformats.org/drawingml/2006/table">
            <a:tbl>
              <a:tblPr/>
              <a:tblGrid>
                <a:gridCol w="2666520"/>
                <a:gridCol w="2666520"/>
                <a:gridCol w="2666520"/>
              </a:tblGrid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Fold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Naive Bayes F1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Linear SVM F1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0.948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0.974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2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0.938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0.948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3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0.894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0.954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4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0.919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0.974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5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0.921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0.974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Mean ± SD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0.924 ± 0.018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0.965 ± 0.011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</a:tbl>
          </a:graphicData>
        </a:graphic>
      </p:graphicFrame>
      <p:pic>
        <p:nvPicPr>
          <p:cNvPr id="113" name="Picture 5" descr="cross_validation_boxplot.png"/>
          <p:cNvPicPr/>
          <p:nvPr/>
        </p:nvPicPr>
        <p:blipFill>
          <a:blip r:embed="rId1"/>
          <a:stretch/>
        </p:blipFill>
        <p:spPr>
          <a:xfrm>
            <a:off x="9000000" y="2800080"/>
            <a:ext cx="8498520" cy="6198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999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SECURITY IMPLEMENTATION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7" name="Table 4"/>
          <p:cNvGraphicFramePr/>
          <p:nvPr/>
        </p:nvGraphicFramePr>
        <p:xfrm>
          <a:off x="457200" y="2800080"/>
          <a:ext cx="17372520" cy="5798520"/>
        </p:xfrm>
        <a:graphic>
          <a:graphicData uri="http://schemas.openxmlformats.org/drawingml/2006/table">
            <a:tbl>
              <a:tblPr/>
              <a:tblGrid>
                <a:gridCol w="5790960"/>
                <a:gridCol w="5790960"/>
                <a:gridCol w="5790960"/>
              </a:tblGrid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Feature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Implementation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Purpose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Password Storage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BCrypt (Blowfish, cost 10)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Adaptive hash — expensive for brute-force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Token Auth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JWT HMAC-SHA256, 24hr expiry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Stateless — no server sessions or cookies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Session Strategy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STATELESS (Spring Security)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Immune to CSRF attacks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Path Traversal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cleanPath() + normalize() + prefix check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Blocks ../../etc/passwd attacks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IDOR Prevention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JWT username vs uploadedBy check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Users can only access own files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File Size Limit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15 MB max (configurable)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Prevents DoS via oversized uploads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999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JWT AUTHENTICATION FLOW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" name="Picture 4" descr="jwt_flow_diagram.png"/>
          <p:cNvPicPr/>
          <p:nvPr/>
        </p:nvPicPr>
        <p:blipFill>
          <a:blip r:embed="rId1"/>
          <a:stretch/>
        </p:blipFill>
        <p:spPr>
          <a:xfrm>
            <a:off x="2263320" y="2800080"/>
            <a:ext cx="13760280" cy="6998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999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IMPLEMENTATION PROGRESS (60%+)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5" name="Table 4"/>
          <p:cNvGraphicFramePr/>
          <p:nvPr/>
        </p:nvGraphicFramePr>
        <p:xfrm>
          <a:off x="457200" y="2700000"/>
          <a:ext cx="17372520" cy="5972040"/>
        </p:xfrm>
        <a:graphic>
          <a:graphicData uri="http://schemas.openxmlformats.org/drawingml/2006/table">
            <a:tbl>
              <a:tblPr/>
              <a:tblGrid>
                <a:gridCol w="5790960"/>
                <a:gridCol w="5790960"/>
                <a:gridCol w="5790960"/>
              </a:tblGrid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Module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Status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Key Deliverables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Repository Cleanup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Done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Removed artifacts, updated .gitignore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AI Model Pipeline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Done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Dataset, training, evaluation, 7 charts, serialized models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FastAPI AI Service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Done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/predict, /health, /evaluate, /predict/detailed endpoints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Backend Security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Done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BCrypt + JWT + path traversal + IDOR prevention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REST API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Done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Register, Login, Upload, List, Download, Delete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Frontend Network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Done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JWT token storage, Bearer headers, ServerConfig.java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Admin Panel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Done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Legacy servlet-based user management at /admin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Run Scripts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Done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Fish, Bash, Windows .bat launch scripts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Documentation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Done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7 detailed setup &amp; deployment guides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7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Distributed Deploy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Done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Windows backend + Linux frontend support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999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KEY CODE HIGHLIGHTS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4"/>
          <p:cNvSpPr/>
          <p:nvPr/>
        </p:nvSpPr>
        <p:spPr>
          <a:xfrm>
            <a:off x="548640" y="2800080"/>
            <a:ext cx="16914240" cy="7198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1. AI Prediction Endpoint (FastAPI — Python):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@app.post("/predict")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def predict_category(data: FileData):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   prediction = active_model.predict([data.filename])[0]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   return {"category": prediction}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2. JWT Token Generation (Java — Spring Boot):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return Jwts.builder()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   .subject(username).issuedAt(now)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   .expiration(new Date(now + 86400000))  // 24 hours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   .signWith(secretKey)  // HMAC-SHA256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   .compact();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3. AI-Powered Upload with Path Traversal Prevention: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String clean = StringUtils.cleanPath(file.getOriginalFilename());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Path target = Paths.get(UPLOAD_DIR).resolve(clean).normalize();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String category = aiService.analyzeAndCategorize(clean);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metadata.setCategory(category); fileRepository.save(metadata);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999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CHALLENGES &amp; SOLUTIONS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3" name="Table 4"/>
          <p:cNvGraphicFramePr/>
          <p:nvPr/>
        </p:nvGraphicFramePr>
        <p:xfrm>
          <a:off x="457200" y="2800080"/>
          <a:ext cx="17372520" cy="5797440"/>
        </p:xfrm>
        <a:graphic>
          <a:graphicData uri="http://schemas.openxmlformats.org/drawingml/2006/table">
            <a:tbl>
              <a:tblPr/>
              <a:tblGrid>
                <a:gridCol w="8686440"/>
                <a:gridCol w="8686440"/>
              </a:tblGrid>
              <a:tr h="7246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Challenge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Solution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7246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Ultra-short text (5-30 chars)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Character n-grams (n=2..5) instead of word tokenization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246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Frontend-backend protocol mismatch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Updated to return JSON with JWT; frontend parses &amp; stores token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7246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Path traversal vulnerability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Triple-layer: cleanPath → normalize → startsWith prefix check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246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IDOR on file download/delete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Ownership check: JWT username vs uploadedBy field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7246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Cross-machine deployment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ServerConfig.java reads host from system props / env vars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246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AI service offline during upload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Graceful fallback: categorize as 'Uncategorized' on timeout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7246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Run scripts broken via symlinks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Used realpath(status -f) to resolve canonical path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999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WORK REMAINING (PHASE 4 — OCTOBER)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7" name="Table 4"/>
          <p:cNvGraphicFramePr/>
          <p:nvPr/>
        </p:nvGraphicFramePr>
        <p:xfrm>
          <a:off x="457200" y="2800080"/>
          <a:ext cx="17372520" cy="5798520"/>
        </p:xfrm>
        <a:graphic>
          <a:graphicData uri="http://schemas.openxmlformats.org/drawingml/2006/table">
            <a:tbl>
              <a:tblPr/>
              <a:tblGrid>
                <a:gridCol w="5790960"/>
                <a:gridCol w="5790960"/>
                <a:gridCol w="5790960"/>
              </a:tblGrid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Task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Priority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Estimated Effort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UI Polish — Dashboard styling, file icons per category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Medium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2–3 days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Add file search/filter by category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Medium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1–2 days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Write 60–70 page final project report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High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5–7 days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Prepare final demo with live deployment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High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 day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Optional: Containerize with Docker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Low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 day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8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Optional: Add file preview (images, PDFs)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Low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2 days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999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METRICS SUMMARY — VISUAL COMPARISON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1" name="Picture 4" descr="metrics_summary.png"/>
          <p:cNvPicPr/>
          <p:nvPr/>
        </p:nvPicPr>
        <p:blipFill>
          <a:blip r:embed="rId1"/>
          <a:stretch/>
        </p:blipFill>
        <p:spPr>
          <a:xfrm>
            <a:off x="799920" y="2800080"/>
            <a:ext cx="10498680" cy="679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Picture 5" descr="accuracy_comparison.png"/>
          <p:cNvPicPr/>
          <p:nvPr/>
        </p:nvPicPr>
        <p:blipFill>
          <a:blip r:embed="rId2"/>
          <a:stretch/>
        </p:blipFill>
        <p:spPr>
          <a:xfrm>
            <a:off x="11800080" y="3200040"/>
            <a:ext cx="5598720" cy="5598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3"/>
          <p:cNvSpPr/>
          <p:nvPr/>
        </p:nvSpPr>
        <p:spPr>
          <a:xfrm>
            <a:off x="0" y="0"/>
            <a:ext cx="18285840" cy="257652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999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REFERENCES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4"/>
          <p:cNvSpPr/>
          <p:nvPr/>
        </p:nvSpPr>
        <p:spPr>
          <a:xfrm>
            <a:off x="548640" y="2999880"/>
            <a:ext cx="16914240" cy="679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1. Joachims, T. (1998). "Text categorization with Support Vector Machines." Proc. 10th European Conference on Machine Learning.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2. Kowsari, K. et al. (2019). "Text Classification Algorithms: A Survey." Information, 10(4), 150.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3. Jones, M. et al. (2015). "JSON Web Token (JWT)." RFC 7519, IETF.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4. Provos, N. &amp; Mazières, D. (1999). "A Future-Adaptable Password Scheme." USENIX Annual Technical Conference.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5. Pedregosa, F. et al. (2011). "Scikit-learn: Machine Learning in Python." JMLR, 12, 2825–2830.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6. Das, M. et al. (2023). "A comparative study on TF-IDF feature weighting method." Int. J. Advanced Research in CS.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7. Prasad, S. R. S. S. S. &amp; Sharma, V. K. (2023). "Enhancing data security: JWT and HMAC integration." IJCAIT.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8. Biryukov, A. et al. (2016). "Argon2: New generation of memory-hard functions." IEEE Euro S&amp;P.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9. Ghemawat, S. et al. (2003). "The Google File System." Proc. 19th ACM SOSP.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10. FastAPI Documentation. Ramírez, S. (2024). https://fastapi.tiangolo.com.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040" cy="171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7040" cy="596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3"/>
          <p:cNvSpPr/>
          <p:nvPr/>
        </p:nvSpPr>
        <p:spPr>
          <a:xfrm>
            <a:off x="0" y="0"/>
            <a:ext cx="18286560" cy="1028556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99"/>
              </a:spcBef>
            </a:pPr>
            <a:r>
              <a:rPr lang="en-IN" sz="6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THANK YOU</a:t>
            </a:r>
            <a:endParaRPr lang="en-IN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LibreOffice/26.8.0.3$Linux_X86_64 LibreOffice_project/e34ffb33db0c92181c79084d759a90d6bf45d9b3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DAG3DDa4I9A</dc:identifier>
  <dc:language>en-IN</dc:language>
  <cp:lastModifiedBy/>
  <dcterms:modified xsi:type="dcterms:W3CDTF">2026-09-30T12:31:10Z</dcterms:modified>
  <cp:revision>16</cp:revision>
  <dc:subject/>
  <dc:title>An AI-Powered System for Correlating Physical Activity and Subjective Mental Well-being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18</vt:i4>
  </property>
  <property fmtid="{D5CDD505-2E9C-101B-9397-08002B2CF9AE}" pid="4" name="PresentationFormat">
    <vt:lpwstr>On-screen Show (4:3)</vt:lpwstr>
  </property>
  <property fmtid="{D5CDD505-2E9C-101B-9397-08002B2CF9AE}" pid="5" name="Slides">
    <vt:i4>18</vt:i4>
  </property>
</Properties>
</file>